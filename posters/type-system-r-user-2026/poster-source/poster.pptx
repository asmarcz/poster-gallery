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42804000" cx="3027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7">
          <p15:clr>
            <a:srgbClr val="747775"/>
          </p15:clr>
        </p15:guide>
        <p15:guide id="2" orient="horz" pos="26736">
          <p15:clr>
            <a:srgbClr val="747775"/>
          </p15:clr>
        </p15:guide>
        <p15:guide id="3" pos="18845">
          <p15:clr>
            <a:srgbClr val="747775"/>
          </p15:clr>
        </p15:guide>
        <p15:guide id="4" pos="23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B3C3AA-1078-4CE2-9DC7-587DC8E1A2CB}">
  <a:tblStyle styleId="{65B3C3AA-1078-4CE2-9DC7-587DC8E1A2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D93277C-62B6-49F7-AD99-3838E5D449D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 orient="horz"/>
        <p:guide pos="26736" orient="horz"/>
        <p:guide pos="18845"/>
        <p:guide pos="2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29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6629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2410275" lIns="2410275" spcFirstLastPara="1" rIns="2410275" wrap="square" tIns="2410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1pPr>
            <a:lvl2pPr lvl="1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2pPr>
            <a:lvl3pPr lvl="2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3pPr>
            <a:lvl4pPr lvl="3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4pPr>
            <a:lvl5pPr lvl="4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5pPr>
            <a:lvl6pPr lvl="5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6pPr>
            <a:lvl7pPr lvl="6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7pPr>
            <a:lvl8pPr lvl="7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8pPr>
            <a:lvl9pPr lvl="8" algn="ctr">
              <a:spcBef>
                <a:spcPts val="0"/>
              </a:spcBef>
              <a:spcAft>
                <a:spcPts val="0"/>
              </a:spcAft>
              <a:buSzPts val="137088"/>
              <a:buNone/>
              <a:defRPr sz="137088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6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1pPr>
            <a:lvl2pPr lvl="1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2pPr>
            <a:lvl3pPr lvl="2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3pPr>
            <a:lvl4pPr lvl="3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4pPr>
            <a:lvl5pPr lvl="4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5pPr>
            <a:lvl6pPr lvl="5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6pPr>
            <a:lvl7pPr lvl="6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7pPr>
            <a:lvl8pPr lvl="7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8pPr>
            <a:lvl9pPr lvl="8" algn="ctr">
              <a:spcBef>
                <a:spcPts val="0"/>
              </a:spcBef>
              <a:spcAft>
                <a:spcPts val="0"/>
              </a:spcAft>
              <a:buSzPts val="94907"/>
              <a:buNone/>
              <a:defRPr sz="9490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1pPr>
            <a:lvl2pPr lvl="1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2pPr>
            <a:lvl3pPr lvl="2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3pPr>
            <a:lvl4pPr lvl="3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4pPr>
            <a:lvl5pPr lvl="4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5pPr>
            <a:lvl6pPr lvl="5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6pPr>
            <a:lvl7pPr lvl="6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7pPr>
            <a:lvl8pPr lvl="7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8pPr>
            <a:lvl9pPr lvl="8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3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3241907" lvl="0" marL="457200">
              <a:spcBef>
                <a:spcPts val="0"/>
              </a:spcBef>
              <a:spcAft>
                <a:spcPts val="0"/>
              </a:spcAft>
              <a:buSzPts val="47454"/>
              <a:buChar char="●"/>
              <a:defRPr sz="47454"/>
            </a:lvl1pPr>
            <a:lvl2pPr indent="-2572283" lvl="1" marL="9144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2pPr>
            <a:lvl3pPr indent="-2572283" lvl="2" marL="13716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3pPr>
            <a:lvl4pPr indent="-2572283" lvl="3" marL="18288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4pPr>
            <a:lvl5pPr indent="-2572283" lvl="4" marL="22860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5pPr>
            <a:lvl6pPr indent="-2572283" lvl="5" marL="27432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6pPr>
            <a:lvl7pPr indent="-2572283" lvl="6" marL="32004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7pPr>
            <a:lvl8pPr indent="-2572283" lvl="7" marL="36576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8pPr>
            <a:lvl9pPr indent="-2572283" lvl="8" marL="41148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1pPr>
            <a:lvl2pPr lvl="1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2pPr>
            <a:lvl3pPr lvl="2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3pPr>
            <a:lvl4pPr lvl="3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4pPr>
            <a:lvl5pPr lvl="4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5pPr>
            <a:lvl6pPr lvl="5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6pPr>
            <a:lvl7pPr lvl="6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7pPr>
            <a:lvl8pPr lvl="7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8pPr>
            <a:lvl9pPr lvl="8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3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2572283" lvl="0" marL="4572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1pPr>
            <a:lvl2pPr indent="-2237471" lvl="1" marL="9144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2pPr>
            <a:lvl3pPr indent="-2237471" lvl="2" marL="13716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3pPr>
            <a:lvl4pPr indent="-2237471" lvl="3" marL="18288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4pPr>
            <a:lvl5pPr indent="-2237471" lvl="4" marL="22860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5pPr>
            <a:lvl6pPr indent="-2237471" lvl="5" marL="27432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6pPr>
            <a:lvl7pPr indent="-2237471" lvl="6" marL="32004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7pPr>
            <a:lvl8pPr indent="-2237471" lvl="7" marL="36576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8pPr>
            <a:lvl9pPr indent="-2237471" lvl="8" marL="41148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3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2572283" lvl="0" marL="4572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1pPr>
            <a:lvl2pPr indent="-2237471" lvl="1" marL="9144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2pPr>
            <a:lvl3pPr indent="-2237471" lvl="2" marL="13716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3pPr>
            <a:lvl4pPr indent="-2237471" lvl="3" marL="18288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4pPr>
            <a:lvl5pPr indent="-2237471" lvl="4" marL="22860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5pPr>
            <a:lvl6pPr indent="-2237471" lvl="5" marL="27432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6pPr>
            <a:lvl7pPr indent="-2237471" lvl="6" marL="32004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7pPr>
            <a:lvl8pPr indent="-2237471" lvl="7" marL="36576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8pPr>
            <a:lvl9pPr indent="-2237471" lvl="8" marL="41148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1pPr>
            <a:lvl2pPr lvl="1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2pPr>
            <a:lvl3pPr lvl="2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3pPr>
            <a:lvl4pPr lvl="3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4pPr>
            <a:lvl5pPr lvl="4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5pPr>
            <a:lvl6pPr lvl="5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6pPr>
            <a:lvl7pPr lvl="6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7pPr>
            <a:lvl8pPr lvl="7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8pPr>
            <a:lvl9pPr lvl="8">
              <a:spcBef>
                <a:spcPts val="0"/>
              </a:spcBef>
              <a:spcAft>
                <a:spcPts val="0"/>
              </a:spcAft>
              <a:buSzPts val="73817"/>
              <a:buNone/>
              <a:defRPr sz="7381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8600"/>
          </a:xfrm>
          <a:prstGeom prst="rect">
            <a:avLst/>
          </a:prstGeom>
        </p:spPr>
        <p:txBody>
          <a:bodyPr anchorCtr="0" anchor="b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1pPr>
            <a:lvl2pPr lvl="1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2pPr>
            <a:lvl3pPr lvl="2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3pPr>
            <a:lvl4pPr lvl="3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4pPr>
            <a:lvl5pPr lvl="4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5pPr>
            <a:lvl6pPr lvl="5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6pPr>
            <a:lvl7pPr lvl="6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7pPr>
            <a:lvl8pPr lvl="7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8pPr>
            <a:lvl9pPr lvl="8">
              <a:spcBef>
                <a:spcPts val="0"/>
              </a:spcBef>
              <a:spcAft>
                <a:spcPts val="0"/>
              </a:spcAft>
              <a:buSzPts val="63272"/>
              <a:buNone/>
              <a:defRPr sz="63272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91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2237471" lvl="0" marL="4572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1pPr>
            <a:lvl2pPr indent="-2237471" lvl="1" marL="9144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2pPr>
            <a:lvl3pPr indent="-2237471" lvl="2" marL="13716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3pPr>
            <a:lvl4pPr indent="-2237471" lvl="3" marL="18288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4pPr>
            <a:lvl5pPr indent="-2237471" lvl="4" marL="22860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5pPr>
            <a:lvl6pPr indent="-2237471" lvl="5" marL="27432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6pPr>
            <a:lvl7pPr indent="-2237471" lvl="6" marL="3200400">
              <a:spcBef>
                <a:spcPts val="0"/>
              </a:spcBef>
              <a:spcAft>
                <a:spcPts val="0"/>
              </a:spcAft>
              <a:buSzPts val="31636"/>
              <a:buChar char="●"/>
              <a:defRPr sz="31636"/>
            </a:lvl7pPr>
            <a:lvl8pPr indent="-2237471" lvl="7" marL="3657600">
              <a:spcBef>
                <a:spcPts val="0"/>
              </a:spcBef>
              <a:spcAft>
                <a:spcPts val="0"/>
              </a:spcAft>
              <a:buSzPts val="31636"/>
              <a:buChar char="○"/>
              <a:defRPr sz="31636"/>
            </a:lvl8pPr>
            <a:lvl9pPr indent="-2237471" lvl="8" marL="4114800">
              <a:spcBef>
                <a:spcPts val="0"/>
              </a:spcBef>
              <a:spcAft>
                <a:spcPts val="0"/>
              </a:spcAft>
              <a:buSzPts val="31636"/>
              <a:buChar char="■"/>
              <a:defRPr sz="31636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1pPr>
            <a:lvl2pPr lvl="1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2pPr>
            <a:lvl3pPr lvl="2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3pPr>
            <a:lvl4pPr lvl="3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4pPr>
            <a:lvl5pPr lvl="4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5pPr>
            <a:lvl6pPr lvl="5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6pPr>
            <a:lvl7pPr lvl="6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7pPr>
            <a:lvl8pPr lvl="7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8pPr>
            <a:lvl9pPr lvl="8">
              <a:spcBef>
                <a:spcPts val="0"/>
              </a:spcBef>
              <a:spcAft>
                <a:spcPts val="0"/>
              </a:spcAft>
              <a:buSzPts val="126543"/>
              <a:buNone/>
              <a:defRPr sz="12654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10275" lIns="2410275" spcFirstLastPara="1" rIns="2410275" wrap="square" tIns="2410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2410275" lIns="2410275" spcFirstLastPara="1" rIns="2410275" wrap="square" tIns="2410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1pPr>
            <a:lvl2pPr lvl="1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2pPr>
            <a:lvl3pPr lvl="2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3pPr>
            <a:lvl4pPr lvl="3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4pPr>
            <a:lvl5pPr lvl="4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5pPr>
            <a:lvl6pPr lvl="5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6pPr>
            <a:lvl7pPr lvl="6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7pPr>
            <a:lvl8pPr lvl="7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8pPr>
            <a:lvl9pPr lvl="8" algn="ctr">
              <a:spcBef>
                <a:spcPts val="0"/>
              </a:spcBef>
              <a:spcAft>
                <a:spcPts val="0"/>
              </a:spcAft>
              <a:buSzPts val="110725"/>
              <a:buNone/>
              <a:defRPr sz="110725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363"/>
              <a:buNone/>
              <a:defRPr sz="55363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3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indent="-3241907" lvl="0" marL="457200">
              <a:spcBef>
                <a:spcPts val="0"/>
              </a:spcBef>
              <a:spcAft>
                <a:spcPts val="0"/>
              </a:spcAft>
              <a:buSzPts val="47454"/>
              <a:buChar char="●"/>
              <a:defRPr sz="47454"/>
            </a:lvl1pPr>
            <a:lvl2pPr indent="-2572283" lvl="1" marL="9144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2pPr>
            <a:lvl3pPr indent="-2572283" lvl="2" marL="13716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3pPr>
            <a:lvl4pPr indent="-2572283" lvl="3" marL="18288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4pPr>
            <a:lvl5pPr indent="-2572283" lvl="4" marL="22860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5pPr>
            <a:lvl6pPr indent="-2572283" lvl="5" marL="27432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6pPr>
            <a:lvl7pPr indent="-2572283" lvl="6" marL="3200400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7pPr>
            <a:lvl8pPr indent="-2572283" lvl="7" marL="3657600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8pPr>
            <a:lvl9pPr indent="-2572283" lvl="8" marL="4114800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454"/>
              <a:buNone/>
              <a:defRPr sz="47454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400"/>
          </a:xfrm>
          <a:prstGeom prst="rect">
            <a:avLst/>
          </a:prstGeom>
        </p:spPr>
        <p:txBody>
          <a:bodyPr anchorCtr="0" anchor="b" bIns="2410275" lIns="2410275" spcFirstLastPara="1" rIns="2410275" wrap="square" tIns="2410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1pPr>
            <a:lvl2pPr lvl="1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2pPr>
            <a:lvl3pPr lvl="2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3pPr>
            <a:lvl4pPr lvl="3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4pPr>
            <a:lvl5pPr lvl="4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5pPr>
            <a:lvl6pPr lvl="5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6pPr>
            <a:lvl7pPr lvl="6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7pPr>
            <a:lvl8pPr lvl="7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8pPr>
            <a:lvl9pPr lvl="8" algn="ctr">
              <a:spcBef>
                <a:spcPts val="0"/>
              </a:spcBef>
              <a:spcAft>
                <a:spcPts val="0"/>
              </a:spcAft>
              <a:buSzPts val="316358"/>
              <a:buNone/>
              <a:defRPr sz="316358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3241907" lvl="0" marL="457200" algn="ctr">
              <a:spcBef>
                <a:spcPts val="0"/>
              </a:spcBef>
              <a:spcAft>
                <a:spcPts val="0"/>
              </a:spcAft>
              <a:buSzPts val="47454"/>
              <a:buChar char="●"/>
              <a:defRPr sz="47454"/>
            </a:lvl1pPr>
            <a:lvl2pPr indent="-2572283" lvl="1" marL="914400" algn="ctr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2pPr>
            <a:lvl3pPr indent="-2572283" lvl="2" marL="1371600" algn="ctr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3pPr>
            <a:lvl4pPr indent="-2572283" lvl="3" marL="1828800" algn="ctr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4pPr>
            <a:lvl5pPr indent="-2572283" lvl="4" marL="2286000" algn="ctr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5pPr>
            <a:lvl6pPr indent="-2572283" lvl="5" marL="2743200" algn="ctr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6pPr>
            <a:lvl7pPr indent="-2572283" lvl="6" marL="3200400" algn="ctr">
              <a:spcBef>
                <a:spcPts val="0"/>
              </a:spcBef>
              <a:spcAft>
                <a:spcPts val="0"/>
              </a:spcAft>
              <a:buSzPts val="36908"/>
              <a:buChar char="●"/>
              <a:defRPr sz="36908"/>
            </a:lvl7pPr>
            <a:lvl8pPr indent="-2572283" lvl="7" marL="3657600" algn="ctr">
              <a:spcBef>
                <a:spcPts val="0"/>
              </a:spcBef>
              <a:spcAft>
                <a:spcPts val="0"/>
              </a:spcAft>
              <a:buSzPts val="36908"/>
              <a:buChar char="○"/>
              <a:defRPr sz="36908"/>
            </a:lvl8pPr>
            <a:lvl9pPr indent="-2572283" lvl="8" marL="4114800" algn="ctr">
              <a:spcBef>
                <a:spcPts val="0"/>
              </a:spcBef>
              <a:spcAft>
                <a:spcPts val="0"/>
              </a:spcAft>
              <a:buSzPts val="36908"/>
              <a:buChar char="■"/>
              <a:defRPr sz="36908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>
              <a:buNone/>
              <a:defRPr sz="26363"/>
            </a:lvl1pPr>
            <a:lvl2pPr lvl="1">
              <a:buNone/>
              <a:defRPr sz="26363"/>
            </a:lvl2pPr>
            <a:lvl3pPr lvl="2">
              <a:buNone/>
              <a:defRPr sz="26363"/>
            </a:lvl3pPr>
            <a:lvl4pPr lvl="3">
              <a:buNone/>
              <a:defRPr sz="26363"/>
            </a:lvl4pPr>
            <a:lvl5pPr lvl="4">
              <a:buNone/>
              <a:defRPr sz="26363"/>
            </a:lvl5pPr>
            <a:lvl6pPr lvl="5">
              <a:buNone/>
              <a:defRPr sz="26363"/>
            </a:lvl6pPr>
            <a:lvl7pPr lvl="6">
              <a:buNone/>
              <a:defRPr sz="26363"/>
            </a:lvl7pPr>
            <a:lvl8pPr lvl="7">
              <a:buNone/>
              <a:defRPr sz="26363"/>
            </a:lvl8pPr>
            <a:lvl9pPr lvl="8">
              <a:buNone/>
              <a:defRPr sz="2636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10275" lIns="2410275" spcFirstLastPara="1" rIns="2410275" wrap="square" tIns="24102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817"/>
              <a:buNone/>
              <a:defRPr sz="7381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10275" lIns="2410275" spcFirstLastPara="1" rIns="2410275" wrap="square" tIns="2410275">
            <a:spAutoFit/>
          </a:bodyPr>
          <a:lstStyle>
            <a:lvl1pPr indent="-3241907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454"/>
              <a:buChar char="●"/>
              <a:defRPr sz="47454">
                <a:solidFill>
                  <a:schemeClr val="dk2"/>
                </a:solidFill>
              </a:defRPr>
            </a:lvl1pPr>
            <a:lvl2pPr indent="-2572283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○"/>
              <a:defRPr sz="36908">
                <a:solidFill>
                  <a:schemeClr val="dk2"/>
                </a:solidFill>
              </a:defRPr>
            </a:lvl2pPr>
            <a:lvl3pPr indent="-257228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■"/>
              <a:defRPr sz="36908">
                <a:solidFill>
                  <a:schemeClr val="dk2"/>
                </a:solidFill>
              </a:defRPr>
            </a:lvl3pPr>
            <a:lvl4pPr indent="-257228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●"/>
              <a:defRPr sz="36908">
                <a:solidFill>
                  <a:schemeClr val="dk2"/>
                </a:solidFill>
              </a:defRPr>
            </a:lvl4pPr>
            <a:lvl5pPr indent="-257228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○"/>
              <a:defRPr sz="36908">
                <a:solidFill>
                  <a:schemeClr val="dk2"/>
                </a:solidFill>
              </a:defRPr>
            </a:lvl5pPr>
            <a:lvl6pPr indent="-257228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■"/>
              <a:defRPr sz="36908">
                <a:solidFill>
                  <a:schemeClr val="dk2"/>
                </a:solidFill>
              </a:defRPr>
            </a:lvl6pPr>
            <a:lvl7pPr indent="-257228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●"/>
              <a:defRPr sz="36908">
                <a:solidFill>
                  <a:schemeClr val="dk2"/>
                </a:solidFill>
              </a:defRPr>
            </a:lvl7pPr>
            <a:lvl8pPr indent="-257228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○"/>
              <a:defRPr sz="36908">
                <a:solidFill>
                  <a:schemeClr val="dk2"/>
                </a:solidFill>
              </a:defRPr>
            </a:lvl8pPr>
            <a:lvl9pPr indent="-257228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8"/>
              <a:buChar char="■"/>
              <a:defRPr sz="3690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8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10275" lIns="2410275" spcFirstLastPara="1" rIns="2410275" wrap="square" tIns="2410275">
            <a:spAutoFit/>
          </a:bodyPr>
          <a:lstStyle>
            <a:lvl1pPr lvl="0" algn="r">
              <a:buNone/>
              <a:defRPr sz="26363">
                <a:solidFill>
                  <a:schemeClr val="dk2"/>
                </a:solidFill>
              </a:defRPr>
            </a:lvl1pPr>
            <a:lvl2pPr lvl="1" algn="r">
              <a:buNone/>
              <a:defRPr sz="26363">
                <a:solidFill>
                  <a:schemeClr val="dk2"/>
                </a:solidFill>
              </a:defRPr>
            </a:lvl2pPr>
            <a:lvl3pPr lvl="2" algn="r">
              <a:buNone/>
              <a:defRPr sz="26363">
                <a:solidFill>
                  <a:schemeClr val="dk2"/>
                </a:solidFill>
              </a:defRPr>
            </a:lvl3pPr>
            <a:lvl4pPr lvl="3" algn="r">
              <a:buNone/>
              <a:defRPr sz="26363">
                <a:solidFill>
                  <a:schemeClr val="dk2"/>
                </a:solidFill>
              </a:defRPr>
            </a:lvl4pPr>
            <a:lvl5pPr lvl="4" algn="r">
              <a:buNone/>
              <a:defRPr sz="26363">
                <a:solidFill>
                  <a:schemeClr val="dk2"/>
                </a:solidFill>
              </a:defRPr>
            </a:lvl5pPr>
            <a:lvl6pPr lvl="5" algn="r">
              <a:buNone/>
              <a:defRPr sz="26363">
                <a:solidFill>
                  <a:schemeClr val="dk2"/>
                </a:solidFill>
              </a:defRPr>
            </a:lvl6pPr>
            <a:lvl7pPr lvl="6" algn="r">
              <a:buNone/>
              <a:defRPr sz="26363">
                <a:solidFill>
                  <a:schemeClr val="dk2"/>
                </a:solidFill>
              </a:defRPr>
            </a:lvl7pPr>
            <a:lvl8pPr lvl="7" algn="r">
              <a:buNone/>
              <a:defRPr sz="26363">
                <a:solidFill>
                  <a:schemeClr val="dk2"/>
                </a:solidFill>
              </a:defRPr>
            </a:lvl8pPr>
            <a:lvl9pPr lvl="8" algn="r">
              <a:buNone/>
              <a:defRPr sz="2636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e-sh4rk.github.io/MLsem/" TargetMode="External"/><Relationship Id="rId9" Type="http://schemas.openxmlformats.org/officeDocument/2006/relationships/image" Target="../media/image10.png"/><Relationship Id="rId15" Type="http://schemas.openxmlformats.org/officeDocument/2006/relationships/image" Target="../media/image11.png"/><Relationship Id="rId14" Type="http://schemas.openxmlformats.org/officeDocument/2006/relationships/hyperlink" Target="https://github.com/PRL-PRG/typ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74826" y="164700"/>
            <a:ext cx="19817100" cy="23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200" lIns="474200" spcFirstLastPara="1" rIns="474200" wrap="square" tIns="4742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0">
                <a:solidFill>
                  <a:srgbClr val="222222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 Type System for the </a:t>
            </a:r>
            <a:r>
              <a:rPr b="1" lang="en" sz="9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lang="en" sz="9000">
                <a:solidFill>
                  <a:schemeClr val="accent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 sz="9000">
                <a:solidFill>
                  <a:srgbClr val="222222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Language</a:t>
            </a:r>
            <a:endParaRPr b="1" sz="9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313" y="40777200"/>
            <a:ext cx="1705503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5258000" y="4146409"/>
            <a:ext cx="14614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321993" y="1950948"/>
            <a:ext cx="6279000" cy="22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Mickaël Laurent</a:t>
            </a:r>
            <a:endParaRPr sz="5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805074" y="1950948"/>
            <a:ext cx="8138400" cy="22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Pierre Donat-Bouillud</a:t>
            </a:r>
            <a:endParaRPr sz="5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7622058" y="1950948"/>
            <a:ext cx="4850700" cy="22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Filip Křikava</a:t>
            </a:r>
            <a:endParaRPr sz="5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2477801" y="1950948"/>
            <a:ext cx="4850700" cy="22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Jan Vitek</a:t>
            </a:r>
            <a:endParaRPr sz="5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61" name="Google Shape;61;p13"/>
          <p:cNvGraphicFramePr/>
          <p:nvPr/>
        </p:nvGraphicFramePr>
        <p:xfrm>
          <a:off x="15672825" y="19100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{65B3C3AA-1078-4CE2-9DC7-587DC8E1A2CB}</a:tableStyleId>
              </a:tblPr>
              <a:tblGrid>
                <a:gridCol w="2394875"/>
                <a:gridCol w="1840225"/>
                <a:gridCol w="1948425"/>
                <a:gridCol w="1948425"/>
                <a:gridCol w="1948425"/>
                <a:gridCol w="1948425"/>
                <a:gridCol w="1948425"/>
              </a:tblGrid>
              <a:tr h="50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 of </a:t>
                      </a:r>
                      <a:r>
                        <a:rPr b="1" lang="en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c(.,.)</a:t>
                      </a:r>
                      <a:endParaRPr b="1"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raw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logical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raw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raw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logical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logical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logical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logical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506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44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b="1"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character</a:t>
                      </a:r>
                      <a:endParaRPr sz="1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62" name="Google Shape;62;p13"/>
          <p:cNvSpPr/>
          <p:nvPr/>
        </p:nvSpPr>
        <p:spPr>
          <a:xfrm>
            <a:off x="478275" y="34975390"/>
            <a:ext cx="6778500" cy="2063400"/>
          </a:xfrm>
          <a:prstGeom prst="rect">
            <a:avLst/>
          </a:prstGeom>
          <a:solidFill>
            <a:srgbClr val="A4C2F4"/>
          </a:solidFill>
          <a:ln cap="flat" cmpd="sng" w="494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Typr</a:t>
            </a:r>
            <a:endParaRPr b="1"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Parse R code and native libraries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Resolve dependencies (call graph, etc.)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Call the type-checkers and show results</a:t>
            </a:r>
            <a:endParaRPr sz="2400"/>
          </a:p>
        </p:txBody>
      </p:sp>
      <p:sp>
        <p:nvSpPr>
          <p:cNvPr id="63" name="Google Shape;63;p13"/>
          <p:cNvSpPr/>
          <p:nvPr/>
        </p:nvSpPr>
        <p:spPr>
          <a:xfrm>
            <a:off x="495675" y="37572639"/>
            <a:ext cx="6743700" cy="2544000"/>
          </a:xfrm>
          <a:prstGeom prst="rect">
            <a:avLst/>
          </a:prstGeom>
          <a:solidFill>
            <a:srgbClr val="B6D7A8"/>
          </a:solidFill>
          <a:ln cap="flat" cmpd="sng" w="494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NativeSem</a:t>
            </a:r>
            <a:endParaRPr b="1"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Infer types for exported functions in C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Do not try to catch programming errors,</a:t>
            </a:r>
            <a:br>
              <a:rPr lang="en" sz="2400"/>
            </a:br>
            <a:r>
              <a:rPr lang="en" sz="2400"/>
              <a:t>only to infer the type of library functions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We plan to add support for Fortran </a:t>
            </a:r>
            <a:r>
              <a:rPr lang="en" sz="2400"/>
              <a:t>libraries</a:t>
            </a:r>
            <a:endParaRPr sz="2400"/>
          </a:p>
        </p:txBody>
      </p:sp>
      <p:sp>
        <p:nvSpPr>
          <p:cNvPr id="64" name="Google Shape;64;p13"/>
          <p:cNvSpPr/>
          <p:nvPr/>
        </p:nvSpPr>
        <p:spPr>
          <a:xfrm>
            <a:off x="7984000" y="34975250"/>
            <a:ext cx="6743700" cy="2063400"/>
          </a:xfrm>
          <a:prstGeom prst="rect">
            <a:avLst/>
          </a:prstGeom>
          <a:solidFill>
            <a:srgbClr val="B6D7A8"/>
          </a:solidFill>
          <a:ln cap="flat" cmpd="sng" w="494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Rsem</a:t>
            </a:r>
            <a:endParaRPr b="1"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Type-check R top-level definitions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Try to infer types when not annotated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Gradual: some functions can stay untyped</a:t>
            </a:r>
            <a:endParaRPr sz="2400"/>
          </a:p>
        </p:txBody>
      </p:sp>
      <p:cxnSp>
        <p:nvCxnSpPr>
          <p:cNvPr id="65" name="Google Shape;65;p13"/>
          <p:cNvCxnSpPr>
            <a:stCxn id="62" idx="3"/>
            <a:endCxn id="64" idx="1"/>
          </p:cNvCxnSpPr>
          <p:nvPr/>
        </p:nvCxnSpPr>
        <p:spPr>
          <a:xfrm>
            <a:off x="7256775" y="36007090"/>
            <a:ext cx="727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62" idx="2"/>
            <a:endCxn id="63" idx="0"/>
          </p:cNvCxnSpPr>
          <p:nvPr/>
        </p:nvCxnSpPr>
        <p:spPr>
          <a:xfrm>
            <a:off x="3867525" y="37038790"/>
            <a:ext cx="0" cy="53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/>
          <p:nvPr/>
        </p:nvSpPr>
        <p:spPr>
          <a:xfrm>
            <a:off x="7983975" y="37574721"/>
            <a:ext cx="6743700" cy="2544000"/>
          </a:xfrm>
          <a:prstGeom prst="rect">
            <a:avLst/>
          </a:prstGeom>
          <a:solidFill>
            <a:srgbClr val="FFE599"/>
          </a:solidFill>
          <a:ln cap="flat" cmpd="sng" w="494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Set-theoretic types</a:t>
            </a:r>
            <a:endParaRPr b="1"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The mathematical foundations we rely 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Support set connectives and polymorphism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Based on recent formal works: [1, 2, 3, 4]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Library: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https://e-sh4rk.github.io/MLsem/</a:t>
            </a:r>
            <a:endParaRPr sz="2400"/>
          </a:p>
        </p:txBody>
      </p:sp>
      <p:cxnSp>
        <p:nvCxnSpPr>
          <p:cNvPr id="68" name="Google Shape;68;p13"/>
          <p:cNvCxnSpPr>
            <a:stCxn id="63" idx="3"/>
            <a:endCxn id="67" idx="1"/>
          </p:cNvCxnSpPr>
          <p:nvPr/>
        </p:nvCxnSpPr>
        <p:spPr>
          <a:xfrm>
            <a:off x="7239375" y="38844639"/>
            <a:ext cx="744600" cy="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>
            <a:stCxn id="64" idx="2"/>
            <a:endCxn id="67" idx="0"/>
          </p:cNvCxnSpPr>
          <p:nvPr/>
        </p:nvCxnSpPr>
        <p:spPr>
          <a:xfrm>
            <a:off x="11355850" y="37038650"/>
            <a:ext cx="0" cy="53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 txBox="1"/>
          <p:nvPr/>
        </p:nvSpPr>
        <p:spPr>
          <a:xfrm>
            <a:off x="8805075" y="41036531"/>
            <a:ext cx="111294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Giuseppe Castagna, Programming with union, intersection, and negation types. The French School of Programming</a:t>
            </a:r>
            <a:b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 Mickaël Laurent, Jan Vitek.Type Inference for Functional and Imperative Dynamic Languages. OOPSLA 2026</a:t>
            </a:r>
            <a:b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Mickaël Laurent, Kim Nguyen. </a:t>
            </a: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2026.</a:t>
            </a: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Implementing Set-Theoretic Types. </a:t>
            </a:r>
            <a:r>
              <a:rPr i="1"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 review</a:t>
            </a: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OOPSLA 2026</a:t>
            </a:r>
            <a:b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 Mickaël Laurent, et. al. Revisiting Row Polymorphism for Set-Theoretic Types. </a:t>
            </a:r>
            <a:r>
              <a:rPr i="1"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 review</a:t>
            </a: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OOPSLA 2026 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63" y="40777200"/>
            <a:ext cx="12192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7171" y="40777200"/>
            <a:ext cx="249383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362500" y="41766225"/>
            <a:ext cx="7532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Supported by the Czech Ministry of Education, Youth and Sports under program ERC-CZ (no. LL2325) and Czech Science Foundation (no. 23-07580X)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74" name="Google Shape;74;p13"/>
          <p:cNvGraphicFramePr/>
          <p:nvPr/>
        </p:nvGraphicFramePr>
        <p:xfrm>
          <a:off x="15672813" y="10767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{6D93277C-62B6-49F7-AD99-3838E5D449D2}</a:tableStyleId>
              </a:tblPr>
              <a:tblGrid>
                <a:gridCol w="3171675"/>
                <a:gridCol w="6277900"/>
                <a:gridCol w="4527700"/>
              </a:tblGrid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 expression</a:t>
                      </a:r>
                      <a:endParaRPr b="1" sz="18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67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b="1" sz="18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67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Comment</a:t>
                      </a:r>
                      <a:endParaRPr b="1"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67B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its own type, distinct from empty vectors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2167B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list(1, 2, 3)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dbl }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homogeneous list of doubles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list(1, "a", TRUE)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dbl | chr | lgl }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heterogeneous — union element type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list(x = 1, y = 2)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x : dbl, y : dbl }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record with named fields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list(x = 1, y = "a", 3)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x : dbl, y : chr, any }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named fields plus anything else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factor(c("a", "b", "a"))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int&lt;factor&gt;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codes are int; class makes it disjoint from dbl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ordered(c("lo", "hi"))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int&lt;ordered, factor ...&gt;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carries two classes at once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matrix(1:6, 2, 3)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int&lt;matrix, array ...&gt;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shape is the type bit R hides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data.frame(</a:t>
                      </a:r>
                      <a:b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id = 1:3, </a:t>
                      </a:r>
                      <a:b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 = c("a","b","c"))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id : int, name : chr }&lt;data.frame ...&gt;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list shape plus S3 class together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lm(y ~ x)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coefficients : dbl, residuals : dbl, any}&lt;lm&gt;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a big record with a class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function(x) x + 1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(x: dbl)-&gt;dbl &amp; (x: clx)-&gt;clx &amp; (x: clx1)-&gt;clx1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increment function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nrow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(x: vec | &lt;array 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| &lt;data.frame 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&gt;) -&gt; int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E1E1E"/>
                          </a:solidFill>
                        </a:rPr>
                        <a:t>nrow function – can take vectors, arrays, df</a:t>
                      </a:r>
                      <a:endParaRPr sz="1700">
                        <a:solidFill>
                          <a:srgbClr val="1E1E1E"/>
                        </a:solidFill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df$col</a:t>
                      </a:r>
                      <a:endParaRPr sz="1800">
                        <a:solidFill>
                          <a:srgbClr val="1E1E1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(x: { </a:t>
                      </a:r>
                      <a:r>
                        <a:rPr lang="en" sz="1800">
                          <a:solidFill>
                            <a:srgbClr val="4A86E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#col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" sz="1800">
                          <a:solidFill>
                            <a:srgbClr val="98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}&lt;data.frame ...&gt;, </a:t>
                      </a:r>
                      <a:r>
                        <a:rPr lang="en" sz="1800">
                          <a:solidFill>
                            <a:srgbClr val="4A86E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#col</a:t>
                      </a:r>
                      <a:r>
                        <a:rPr lang="en" sz="1800">
                          <a:solidFill>
                            <a:srgbClr val="1E1E1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-&gt; </a:t>
                      </a:r>
                      <a:r>
                        <a:rPr lang="en" sz="1800">
                          <a:solidFill>
                            <a:srgbClr val="98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'a</a:t>
                      </a:r>
                      <a:endParaRPr sz="1800">
                        <a:solidFill>
                          <a:srgbClr val="98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</a:t>
                      </a:r>
                      <a:r>
                        <a:rPr lang="en" sz="1700"/>
                        <a:t>xtraction of a dataframe column</a:t>
                      </a:r>
                      <a:endParaRPr sz="1700"/>
                    </a:p>
                  </a:txBody>
                  <a:tcPr marT="38100" marB="38100" marR="76200" marL="76200">
                    <a:lnL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5" name="Google Shape;7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9125" y="40844275"/>
            <a:ext cx="1529575" cy="78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1950" y="381533"/>
            <a:ext cx="3739501" cy="1824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065300" y="430212"/>
            <a:ext cx="4850699" cy="18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/>
          <p:nvPr/>
        </p:nvSpPr>
        <p:spPr>
          <a:xfrm>
            <a:off x="367698" y="4146409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Motivation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0184888" y="164710"/>
            <a:ext cx="204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in progress…</a:t>
            </a:r>
            <a:endParaRPr sz="3200">
              <a:solidFill>
                <a:schemeClr val="accen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99250" y="11670139"/>
            <a:ext cx="144075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167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quality</a:t>
            </a:r>
            <a:endParaRPr b="1" sz="2800">
              <a:solidFill>
                <a:srgbClr val="2167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 specification and documentation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167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</a:t>
            </a:r>
            <a:endParaRPr b="1" sz="2800">
              <a:solidFill>
                <a:srgbClr val="2167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Helps to catch bugs that tests miss (tests and type-checking are complementary)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 feedback: with types, less runtime errors!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Transparency</a:t>
            </a:r>
            <a:endParaRPr b="1" sz="2800">
              <a:solidFill>
                <a:srgbClr val="1264A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hides stuff: a value's storage type </a:t>
            </a:r>
            <a:r>
              <a:rPr lang="en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2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vs </a:t>
            </a:r>
            <a:r>
              <a:rPr lang="en" sz="2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dbl</a:t>
            </a:r>
            <a:r>
              <a:rPr lang="en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its shape </a:t>
            </a:r>
            <a:r>
              <a:rPr lang="en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(scalar vs vector vs matrix)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its S3 classes, these are all invisible at the call site.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b="1"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make the invisible bits explicit where needed!</a:t>
            </a:r>
            <a:endParaRPr b="1"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84458" y="3934404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593179" y="39344044"/>
            <a:ext cx="1081825" cy="1081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23567300" y="39344050"/>
            <a:ext cx="62790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Started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retrofitting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gradual types 5 years ago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type annotations yet, but it is planned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-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on set-theoretic types, as our work!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16341739" y="39344044"/>
            <a:ext cx="60042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Statically-typed variant of JS,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widely adopted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syntax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types on top of JS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annotations are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erased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yielding valid JS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484458" y="37802497"/>
            <a:ext cx="914401" cy="91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593179" y="37909577"/>
            <a:ext cx="1081825" cy="8383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337957" y="37802497"/>
            <a:ext cx="64191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Official syntax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type 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specifications, but </a:t>
            </a:r>
            <a:b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official type-checker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implementation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type-checkers co-exist: MyPy, Pyright, Ty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Mostly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incompatible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types are not formalized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3534175" y="37802500"/>
            <a:ext cx="61158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official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syntax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types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way is assertions 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stopifnot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Packages providing type annotations checked at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typed, types, rtypes</a:t>
            </a:r>
            <a:endParaRPr b="1" sz="2000">
              <a:solidFill>
                <a:srgbClr val="1880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9" name="Google Shape;89;p13"/>
          <p:cNvCxnSpPr>
            <a:stCxn id="79" idx="1"/>
            <a:endCxn id="90" idx="2"/>
          </p:cNvCxnSpPr>
          <p:nvPr/>
        </p:nvCxnSpPr>
        <p:spPr>
          <a:xfrm flipH="1">
            <a:off x="9022388" y="503260"/>
            <a:ext cx="1162500" cy="355200"/>
          </a:xfrm>
          <a:prstGeom prst="curvedConnector2">
            <a:avLst/>
          </a:prstGeom>
          <a:noFill/>
          <a:ln cap="flat" cmpd="sng" w="9525">
            <a:solidFill>
              <a:srgbClr val="2167BA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90" name="Google Shape;90;p13"/>
          <p:cNvSpPr/>
          <p:nvPr/>
        </p:nvSpPr>
        <p:spPr>
          <a:xfrm flipH="1" rot="10800000">
            <a:off x="8925776" y="858459"/>
            <a:ext cx="193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6225963"/>
            <a:ext cx="13574400" cy="492600"/>
          </a:xfrm>
          <a:prstGeom prst="rect">
            <a:avLst/>
          </a:prstGeom>
          <a:solidFill>
            <a:srgbClr val="2167B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With types:</a:t>
            </a:r>
            <a:r>
              <a:rPr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the guard of `if` requires lgl1 (a scalar), x &gt; 0 has type lgl, rejects the if call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8743538"/>
            <a:ext cx="13574400" cy="492600"/>
          </a:xfrm>
          <a:prstGeom prst="rect">
            <a:avLst/>
          </a:prstGeom>
          <a:solidFill>
            <a:srgbClr val="2167B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With types: </a:t>
            </a:r>
            <a:r>
              <a:rPr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weighted.mean : (x : dbl, w : dbl) -&gt; dbl1 rejects the call, scores is int&lt;factor&gt;</a:t>
            </a:r>
            <a:endParaRPr b="1"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117763"/>
            <a:ext cx="936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x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(-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(x &gt;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(x) 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9E9E9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Error in if (x &gt; 0) log(x) else 0 : the condition has length &gt; 1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6745988"/>
            <a:ext cx="13574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scores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factor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"3"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wt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w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weighted.mean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(scores, wt)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9E9E9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Warning message: In Ops.factor(x, w) : '*' not meaningful for factors</a:t>
            </a:r>
            <a:endParaRPr i="1" sz="2000">
              <a:solidFill>
                <a:srgbClr val="9E9E9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w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NA 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71500" y="9260419"/>
            <a:ext cx="13574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df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data.frame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(revenue =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vat &lt;- df$reveneu *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0.21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missing column, NULL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1.2 is numeric(0)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total &lt;- </a:t>
            </a:r>
            <a:r>
              <a:rPr lang="en" sz="20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(vat)                            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silently 0, error surfaces far from the typo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total </a:t>
            </a:r>
            <a:endParaRPr sz="2000">
              <a:solidFill>
                <a:srgbClr val="1E1E1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2000">
                <a:solidFill>
                  <a:srgbClr val="1E1E1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	 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71500" y="10984218"/>
            <a:ext cx="13574400" cy="492600"/>
          </a:xfrm>
          <a:prstGeom prst="rect">
            <a:avLst/>
          </a:prstGeom>
          <a:solidFill>
            <a:srgbClr val="2167B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With types:</a:t>
            </a:r>
            <a:r>
              <a:rPr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df: { revenue : dbl, ... } has no field `reveneu`, rejects df$reveneu call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5338755" y="36842023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Related work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0" y="40758595"/>
            <a:ext cx="30318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20375900" y="40959525"/>
            <a:ext cx="9540000" cy="1483800"/>
          </a:xfrm>
          <a:prstGeom prst="rect">
            <a:avLst/>
          </a:prstGeom>
          <a:solidFill>
            <a:srgbClr val="2167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https://github.com/PRL-PRG/typr</a:t>
            </a:r>
            <a:endParaRPr sz="4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370300" y="23127001"/>
            <a:ext cx="14575800" cy="8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200" lIns="201150" spcFirstLastPara="1" rIns="0" wrap="square" tIns="201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167BA"/>
                </a:solidFill>
              </a:rPr>
              <a:t>Atomic vectors</a:t>
            </a:r>
            <a:endParaRPr b="1" sz="2700">
              <a:solidFill>
                <a:srgbClr val="2167B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 types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(vec):		raw | lgl  | int  | dbl  | clx  | chr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Scalar types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(vec1):		raw1 | lgl1 | int1 | dbl1 | clx1 | chr1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Singleton types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		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42 | "hello world" | tt | ff | ...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rgbClr val="2167BA"/>
                </a:solidFill>
              </a:rPr>
              <a:t>Lists</a:t>
            </a:r>
            <a:endParaRPr b="1" sz="2700">
              <a:solidFill>
                <a:srgbClr val="2167B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(any number of) double vectors: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dbl }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Exactly two named elements:			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x : dbl, y : dbl }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named elements and anything else: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x : dbl, y : dbl, any }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167BA"/>
                </a:solidFill>
              </a:rPr>
              <a:t>S3 classes</a:t>
            </a:r>
            <a:endParaRPr b="1" sz="2700">
              <a:solidFill>
                <a:srgbClr val="2167B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Exactly this class: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&lt;data.frame&gt;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least this class: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&lt;data.frame ...&gt;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i="1"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decorate any type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id : int, name : chr }&lt;data.frame ...&gt;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i="1"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boolean combination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&lt;matrix, ~array ...&gt;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-"/>
            </a:pPr>
            <a:r>
              <a:rPr i="1"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simplicity, types do not capture the order of classes</a:t>
            </a:r>
            <a:endParaRPr i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rgbClr val="2167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</a:t>
            </a:r>
            <a:endParaRPr b="1" sz="2700">
              <a:solidFill>
                <a:srgbClr val="2167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for function parameters and return type: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(x: dbl, y: int) -&gt; dbl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Arrow of unions: (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x: dbl | int | chr) -&gt; (dbl | chr)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Intersection of arrows: (</a:t>
            </a:r>
            <a:r>
              <a:rPr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(x: dbl) -&gt; (dbl))  &amp;  ((x: int) -&gt; (dbl))  &amp;  ((x: chr) -&gt; (chr))</a:t>
            </a:r>
            <a:endParaRPr sz="2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1" name="Google Shape;101;p13"/>
          <p:cNvCxnSpPr>
            <a:stCxn id="102" idx="1"/>
            <a:endCxn id="103" idx="2"/>
          </p:cNvCxnSpPr>
          <p:nvPr/>
        </p:nvCxnSpPr>
        <p:spPr>
          <a:xfrm flipH="1">
            <a:off x="5509149" y="27755663"/>
            <a:ext cx="1447500" cy="963600"/>
          </a:xfrm>
          <a:prstGeom prst="curvedConnector2">
            <a:avLst/>
          </a:prstGeom>
          <a:noFill/>
          <a:ln cap="flat" cmpd="sng" w="19050">
            <a:solidFill>
              <a:srgbClr val="2167BA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102" name="Google Shape;102;p13"/>
          <p:cNvSpPr txBox="1"/>
          <p:nvPr/>
        </p:nvSpPr>
        <p:spPr>
          <a:xfrm>
            <a:off x="6956649" y="27505989"/>
            <a:ext cx="5538900" cy="499349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9">
                <a:solidFill>
                  <a:srgbClr val="2167BA"/>
                </a:solidFill>
                <a:latin typeface="Caveat"/>
                <a:ea typeface="Caveat"/>
                <a:cs typeface="Caveat"/>
                <a:sym typeface="Caveat"/>
              </a:rPr>
              <a:t>Shape of the type (matters for base operations and typeof)</a:t>
            </a:r>
            <a:endParaRPr b="1" sz="1889">
              <a:solidFill>
                <a:srgbClr val="2167BA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0290399" y="28065830"/>
            <a:ext cx="3998400" cy="499349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9">
                <a:solidFill>
                  <a:srgbClr val="2167BA"/>
                </a:solidFill>
                <a:latin typeface="Caveat"/>
                <a:ea typeface="Caveat"/>
                <a:cs typeface="Caveat"/>
                <a:sym typeface="Caveat"/>
              </a:rPr>
              <a:t>Classes</a:t>
            </a:r>
            <a:r>
              <a:rPr b="1" lang="en" sz="1889">
                <a:solidFill>
                  <a:srgbClr val="2167BA"/>
                </a:solidFill>
                <a:latin typeface="Caveat"/>
                <a:ea typeface="Caveat"/>
                <a:cs typeface="Caveat"/>
                <a:sym typeface="Caveat"/>
              </a:rPr>
              <a:t> of the type (matters for S3 dispatch)</a:t>
            </a:r>
            <a:endParaRPr b="1" sz="1889">
              <a:solidFill>
                <a:srgbClr val="2167BA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3" name="Google Shape;103;p13"/>
          <p:cNvSpPr/>
          <p:nvPr/>
        </p:nvSpPr>
        <p:spPr>
          <a:xfrm flipH="1" rot="10800000">
            <a:off x="5412610" y="28719347"/>
            <a:ext cx="193200" cy="109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 flipH="1" rot="10800000">
            <a:off x="9206035" y="28719347"/>
            <a:ext cx="193200" cy="109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3"/>
          <p:cNvCxnSpPr>
            <a:stCxn id="104" idx="1"/>
            <a:endCxn id="105" idx="2"/>
          </p:cNvCxnSpPr>
          <p:nvPr/>
        </p:nvCxnSpPr>
        <p:spPr>
          <a:xfrm flipH="1">
            <a:off x="9302499" y="28315504"/>
            <a:ext cx="987900" cy="403800"/>
          </a:xfrm>
          <a:prstGeom prst="curvedConnector2">
            <a:avLst/>
          </a:prstGeom>
          <a:noFill/>
          <a:ln cap="flat" cmpd="sng" w="19050">
            <a:solidFill>
              <a:srgbClr val="2167BA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107" name="Google Shape;107;p13"/>
          <p:cNvSpPr/>
          <p:nvPr/>
        </p:nvSpPr>
        <p:spPr>
          <a:xfrm>
            <a:off x="393105" y="22308332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Types for R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5301200" y="25921218"/>
            <a:ext cx="14614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Function polymorphism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5341623" y="33096215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Type narrowing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5619950" y="24037146"/>
            <a:ext cx="13977300" cy="17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df </a:t>
            </a:r>
            <a:r>
              <a:rPr lang="en" sz="2000">
                <a:solidFill>
                  <a:schemeClr val="dk1"/>
                </a:solidFill>
                <a:highlight>
                  <a:srgbClr val="F4F4F4"/>
                </a:highlight>
                <a:latin typeface="Consolas"/>
                <a:ea typeface="Consolas"/>
                <a:cs typeface="Consolas"/>
                <a:sym typeface="Consolas"/>
              </a:rPr>
              <a:t>: { id:dbl ...}&lt;data.frame </a:t>
            </a:r>
            <a:r>
              <a:rPr lang="en" sz="2000">
                <a:solidFill>
                  <a:schemeClr val="dk1"/>
                </a:solidFill>
                <a:highlight>
                  <a:srgbClr val="F4F4F4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chemeClr val="dk1"/>
                </a:solidFill>
                <a:highlight>
                  <a:srgbClr val="F4F4F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solidFill>
                <a:schemeClr val="dk1"/>
              </a:solidFill>
              <a:highlight>
                <a:srgbClr val="F4F4F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df &lt;- data.frame(id =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1L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3L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                   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1"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id is int &lt; dbl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df &lt;- data.frame(id = 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2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name = c(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1"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type of df allows extra columns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df &lt;- data.frame(id = c(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2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            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1"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OK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id is chr &gt; dbl</a:t>
            </a:r>
            <a:endParaRPr sz="20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5301100" y="18172233"/>
            <a:ext cx="14614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Subtyping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2" name="Google Shape;112;p13"/>
          <p:cNvGrpSpPr/>
          <p:nvPr/>
        </p:nvGrpSpPr>
        <p:grpSpPr>
          <a:xfrm>
            <a:off x="18539400" y="22830983"/>
            <a:ext cx="8138400" cy="1169700"/>
            <a:chOff x="18539400" y="21206130"/>
            <a:chExt cx="8138400" cy="1169700"/>
          </a:xfrm>
        </p:grpSpPr>
        <p:sp>
          <p:nvSpPr>
            <p:cNvPr id="113" name="Google Shape;113;p13"/>
            <p:cNvSpPr txBox="1"/>
            <p:nvPr/>
          </p:nvSpPr>
          <p:spPr>
            <a:xfrm>
              <a:off x="18539400" y="21206130"/>
              <a:ext cx="813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raw1 &lt;  lgl1 &lt;  int1 &lt;  dbl1 &lt;  clx1 &lt;  chr1</a:t>
              </a:r>
              <a:endParaRPr b="1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</a:t>
              </a: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aw &lt;  lgl  &lt;  int  &lt;  dbl  &lt;  clx  &lt;  chr</a:t>
              </a:r>
              <a:endParaRPr b="1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 rot="5400000">
              <a:off x="1928397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 rot="5400000">
              <a:off x="2056681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  <p:sp>
          <p:nvSpPr>
            <p:cNvPr id="116" name="Google Shape;116;p13"/>
            <p:cNvSpPr txBox="1"/>
            <p:nvPr/>
          </p:nvSpPr>
          <p:spPr>
            <a:xfrm rot="5400000">
              <a:off x="2184965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  <p:sp>
          <p:nvSpPr>
            <p:cNvPr id="117" name="Google Shape;117;p13"/>
            <p:cNvSpPr txBox="1"/>
            <p:nvPr/>
          </p:nvSpPr>
          <p:spPr>
            <a:xfrm rot="5400000">
              <a:off x="2313249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 rot="5400000">
              <a:off x="2441533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  <p:sp>
          <p:nvSpPr>
            <p:cNvPr id="119" name="Google Shape;119;p13"/>
            <p:cNvSpPr txBox="1"/>
            <p:nvPr/>
          </p:nvSpPr>
          <p:spPr>
            <a:xfrm rot="5400000">
              <a:off x="25698175" y="21540705"/>
              <a:ext cx="2922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/>
            </a:p>
          </p:txBody>
        </p:sp>
      </p:grpSp>
      <p:grpSp>
        <p:nvGrpSpPr>
          <p:cNvPr id="120" name="Google Shape;120;p13"/>
          <p:cNvGrpSpPr/>
          <p:nvPr/>
        </p:nvGrpSpPr>
        <p:grpSpPr>
          <a:xfrm>
            <a:off x="15277400" y="26695886"/>
            <a:ext cx="14638575" cy="6069930"/>
            <a:chOff x="15277400" y="25379195"/>
            <a:chExt cx="14638575" cy="6069930"/>
          </a:xfrm>
        </p:grpSpPr>
        <p:sp>
          <p:nvSpPr>
            <p:cNvPr id="121" name="Google Shape;121;p13"/>
            <p:cNvSpPr txBox="1"/>
            <p:nvPr/>
          </p:nvSpPr>
          <p:spPr>
            <a:xfrm>
              <a:off x="21066575" y="28014757"/>
              <a:ext cx="6574200" cy="14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(+)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int, y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int) -&gt; int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(+)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dbl, y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dbl) -&gt; dbl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(+)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chr, y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chr) -&gt; chr</a:t>
              </a:r>
              <a:endParaRPr sz="47454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1066575" y="25979495"/>
              <a:ext cx="8849400" cy="14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rbind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&lt;data.frame 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&gt; ) -&gt; &lt;data.frame 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rbind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&lt;matrix 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&gt; ) -&gt; &lt;matrix 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rbind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vec&lt;&gt; ) -&gt; &lt;matrix&gt;</a:t>
              </a:r>
              <a:endParaRPr sz="47454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15301200" y="25979495"/>
              <a:ext cx="5538900" cy="13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typeof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 any } ) -&gt; </a:t>
              </a:r>
              <a:r>
                <a:rPr lang="en" sz="205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"list"</a:t>
              </a:r>
              <a:endParaRPr sz="2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typeof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null ) -&gt; </a:t>
              </a:r>
              <a:r>
                <a:rPr lang="en" sz="205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"NULL"</a:t>
              </a:r>
              <a:endParaRPr sz="2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typeof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 x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lgl ) -&gt; </a:t>
              </a:r>
              <a:r>
                <a:rPr lang="en" sz="205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"logical"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15301200" y="28058736"/>
              <a:ext cx="4850700" cy="13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identity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(x : 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-&gt; 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endParaRPr sz="205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[.]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({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}, dbl) -&gt; 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endParaRPr sz="205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[.]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(v(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), dbl) -&gt; v1(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15277400" y="27357311"/>
              <a:ext cx="95400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Genericity</a:t>
              </a:r>
              <a:r>
                <a:rPr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(</a:t>
              </a:r>
              <a:r>
                <a:rPr i="1" lang="en" sz="2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aka parametric polymorphism</a:t>
              </a:r>
              <a:r>
                <a:rPr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endParaRPr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15277400" y="30520624"/>
              <a:ext cx="11598300" cy="9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lapply :  (X : v(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), FUN : @(v1(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), </a:t>
              </a:r>
              <a:r>
                <a:rPr lang="en" sz="205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 : `r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-&gt; </a:t>
              </a:r>
              <a:r>
                <a:rPr lang="en" sz="2050">
                  <a:solidFill>
                    <a:srgbClr val="008000"/>
                  </a:solidFill>
                  <a:latin typeface="Consolas"/>
                  <a:ea typeface="Consolas"/>
                  <a:cs typeface="Consolas"/>
                  <a:sym typeface="Consolas"/>
                </a:rPr>
                <a:t>'b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" sz="205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 : `r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-&gt; {</a:t>
              </a:r>
              <a:r>
                <a:rPr lang="en" sz="2050">
                  <a:solidFill>
                    <a:srgbClr val="008000"/>
                  </a:solidFill>
                  <a:latin typeface="Consolas"/>
                  <a:ea typeface="Consolas"/>
                  <a:cs typeface="Consolas"/>
                  <a:sym typeface="Consolas"/>
                </a:rPr>
                <a:t>'b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lapply :  (X :  {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}, FUN : @(   </a:t>
              </a:r>
              <a:r>
                <a:rPr lang="en" sz="205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'a 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" sz="205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 : `r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-&gt; </a:t>
              </a:r>
              <a:r>
                <a:rPr lang="en" sz="2050">
                  <a:solidFill>
                    <a:srgbClr val="008000"/>
                  </a:solidFill>
                  <a:latin typeface="Consolas"/>
                  <a:ea typeface="Consolas"/>
                  <a:cs typeface="Consolas"/>
                  <a:sym typeface="Consolas"/>
                </a:rPr>
                <a:t>'b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" sz="205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 : `r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-&gt; {</a:t>
              </a:r>
              <a:r>
                <a:rPr lang="en" sz="2050">
                  <a:solidFill>
                    <a:srgbClr val="008000"/>
                  </a:solidFill>
                  <a:latin typeface="Consolas"/>
                  <a:ea typeface="Consolas"/>
                  <a:cs typeface="Consolas"/>
                  <a:sym typeface="Consolas"/>
                </a:rPr>
                <a:t>'b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15301100" y="25379195"/>
              <a:ext cx="60042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Overloading</a:t>
              </a:r>
              <a:r>
                <a:rPr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(</a:t>
              </a:r>
              <a:r>
                <a:rPr i="1" lang="en" sz="2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aka ad-hoc polymorphism</a:t>
              </a:r>
              <a:r>
                <a:rPr lang="en" sz="2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endParaRPr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15282500" y="29583748"/>
              <a:ext cx="11598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</a:rPr>
                <a:t>Type variables (</a:t>
              </a:r>
              <a:r>
                <a:rPr lang="en" sz="2000">
                  <a:solidFill>
                    <a:srgbClr val="2167BA"/>
                  </a:solidFill>
                  <a:latin typeface="Consolas"/>
                  <a:ea typeface="Consolas"/>
                  <a:cs typeface="Consolas"/>
                  <a:sym typeface="Consolas"/>
                </a:rPr>
                <a:t>'a</a:t>
              </a: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</a:t>
              </a:r>
              <a:r>
                <a:rPr lang="en" sz="2050">
                  <a:solidFill>
                    <a:srgbClr val="008000"/>
                  </a:solidFill>
                  <a:latin typeface="Consolas"/>
                  <a:ea typeface="Consolas"/>
                  <a:cs typeface="Consolas"/>
                  <a:sym typeface="Consolas"/>
                </a:rPr>
                <a:t>'b</a:t>
              </a:r>
              <a:r>
                <a:rPr lang="en" sz="2000">
                  <a:solidFill>
                    <a:schemeClr val="dk1"/>
                  </a:solidFill>
                </a:rPr>
                <a:t>): capture a single type.</a:t>
              </a:r>
              <a:r>
                <a:rPr lang="en" sz="2000">
                  <a:solidFill>
                    <a:schemeClr val="dk1"/>
                  </a:solidFill>
                </a:rPr>
                <a:t>       </a:t>
              </a:r>
              <a:r>
                <a:rPr lang="en" sz="2000">
                  <a:solidFill>
                    <a:schemeClr val="dk1"/>
                  </a:solidFill>
                </a:rPr>
                <a:t>Row variables (</a:t>
              </a:r>
              <a:r>
                <a:rPr lang="en" sz="205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`r</a:t>
              </a:r>
              <a:r>
                <a:rPr lang="en" sz="2000">
                  <a:solidFill>
                    <a:schemeClr val="dk1"/>
                  </a:solidFill>
                </a:rPr>
                <a:t>): capture a list of types. </a:t>
              </a:r>
              <a:endParaRPr sz="2000">
                <a:solidFill>
                  <a:srgbClr val="2167BA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 flipH="1">
              <a:off x="21900452" y="30277161"/>
              <a:ext cx="2363095" cy="292211"/>
            </a:xfrm>
            <a:custGeom>
              <a:rect b="b" l="l" r="r" t="t"/>
              <a:pathLst>
                <a:path extrusionOk="0" h="14509" w="117348">
                  <a:moveTo>
                    <a:pt x="117348" y="14510"/>
                  </a:moveTo>
                  <a:cubicBezTo>
                    <a:pt x="106934" y="12097"/>
                    <a:pt x="74422" y="159"/>
                    <a:pt x="54864" y="32"/>
                  </a:cubicBezTo>
                  <a:cubicBezTo>
                    <a:pt x="35306" y="-95"/>
                    <a:pt x="9144" y="11462"/>
                    <a:pt x="0" y="13748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dot"/>
              <a:round/>
              <a:headEnd len="med" w="med" type="stealth"/>
              <a:tailEnd len="med" w="med" type="none"/>
            </a:ln>
          </p:spPr>
        </p:sp>
        <p:sp>
          <p:nvSpPr>
            <p:cNvPr id="130" name="Google Shape;130;p13"/>
            <p:cNvSpPr txBox="1"/>
            <p:nvPr/>
          </p:nvSpPr>
          <p:spPr>
            <a:xfrm>
              <a:off x="25127600" y="30050105"/>
              <a:ext cx="45225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0000"/>
                  </a:solidFill>
                  <a:latin typeface="Caveat"/>
                  <a:ea typeface="Caveat"/>
                  <a:cs typeface="Caveat"/>
                  <a:sym typeface="Caveat"/>
                </a:rPr>
                <a:t>Extra parameters (captured by `r) are forwarded</a:t>
              </a:r>
              <a:endParaRPr sz="2000">
                <a:solidFill>
                  <a:srgbClr val="FF0000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15335875" y="33840012"/>
            <a:ext cx="11700650" cy="2901800"/>
            <a:chOff x="15335875" y="33363763"/>
            <a:chExt cx="11700650" cy="2901800"/>
          </a:xfrm>
        </p:grpSpPr>
        <p:sp>
          <p:nvSpPr>
            <p:cNvPr id="132" name="Google Shape;132;p13"/>
            <p:cNvSpPr/>
            <p:nvPr/>
          </p:nvSpPr>
          <p:spPr>
            <a:xfrm>
              <a:off x="15335875" y="33922263"/>
              <a:ext cx="99591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1150" lIns="292600" spcFirstLastPara="1" rIns="292600" wrap="square" tIns="20115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neg &lt;-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function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(x: null | lgl | dbl) -&gt; null | lgl | dbl {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(typeof(x) == </a:t>
              </a:r>
              <a:r>
                <a:rPr lang="en" sz="205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"NULL"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NULL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205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(typeof(x) == </a:t>
              </a:r>
              <a:r>
                <a:rPr lang="en" sz="205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"logical"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(!x) </a:t>
              </a:r>
              <a:endParaRPr sz="205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" sz="205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(-x)</a:t>
              </a:r>
              <a:endParaRPr sz="2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33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22738725" y="34947742"/>
              <a:ext cx="4297800" cy="9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rgbClr val="2167BA"/>
                  </a:solidFill>
                  <a:latin typeface="Caveat"/>
                  <a:ea typeface="Caveat"/>
                  <a:cs typeface="Caveat"/>
                  <a:sym typeface="Caveat"/>
                </a:rPr>
                <a:t>The rest is typed under the assumption that:</a:t>
              </a:r>
              <a:br>
                <a:rPr lang="en" sz="2050">
                  <a:solidFill>
                    <a:srgbClr val="2167BA"/>
                  </a:solidFill>
                  <a:latin typeface="Caveat"/>
                  <a:ea typeface="Caveat"/>
                  <a:cs typeface="Caveat"/>
                  <a:sym typeface="Caveat"/>
                </a:rPr>
              </a:br>
              <a:r>
                <a:rPr lang="en" sz="2050">
                  <a:solidFill>
                    <a:srgbClr val="2167BA"/>
                  </a:solidFill>
                  <a:latin typeface="Consolas"/>
                  <a:ea typeface="Consolas"/>
                  <a:cs typeface="Consolas"/>
                  <a:sym typeface="Consolas"/>
                </a:rPr>
                <a:t>x </a:t>
              </a:r>
              <a:r>
                <a:rPr lang="en" sz="2050">
                  <a:solidFill>
                    <a:srgbClr val="2167BA"/>
                  </a:solidFill>
                  <a:latin typeface="Consolas"/>
                  <a:ea typeface="Consolas"/>
                  <a:cs typeface="Consolas"/>
                  <a:sym typeface="Consolas"/>
                </a:rPr>
                <a:t>: ~null</a:t>
              </a:r>
              <a:endParaRPr>
                <a:solidFill>
                  <a:srgbClr val="2167B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34" name="Google Shape;134;p13"/>
            <p:cNvCxnSpPr/>
            <p:nvPr/>
          </p:nvCxnSpPr>
          <p:spPr>
            <a:xfrm>
              <a:off x="21930124" y="34951417"/>
              <a:ext cx="696600" cy="0"/>
            </a:xfrm>
            <a:prstGeom prst="straightConnector1">
              <a:avLst/>
            </a:prstGeom>
            <a:noFill/>
            <a:ln cap="flat" cmpd="sng" w="19050">
              <a:solidFill>
                <a:srgbClr val="2167BA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13"/>
            <p:cNvCxnSpPr/>
            <p:nvPr/>
          </p:nvCxnSpPr>
          <p:spPr>
            <a:xfrm>
              <a:off x="22626724" y="34965642"/>
              <a:ext cx="0" cy="1222500"/>
            </a:xfrm>
            <a:prstGeom prst="straightConnector1">
              <a:avLst/>
            </a:prstGeom>
            <a:noFill/>
            <a:ln cap="flat" cmpd="sng" w="19050">
              <a:solidFill>
                <a:srgbClr val="2167BA"/>
              </a:solidFill>
              <a:prstDash val="dot"/>
              <a:round/>
              <a:headEnd len="med" w="med" type="none"/>
              <a:tailEnd len="med" w="med" type="stealth"/>
            </a:ln>
          </p:spPr>
        </p:cxnSp>
        <p:sp>
          <p:nvSpPr>
            <p:cNvPr id="136" name="Google Shape;136;p13"/>
            <p:cNvSpPr txBox="1"/>
            <p:nvPr/>
          </p:nvSpPr>
          <p:spPr>
            <a:xfrm>
              <a:off x="19479525" y="33363763"/>
              <a:ext cx="25683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rgbClr val="2167BA"/>
                  </a:solidFill>
                  <a:latin typeface="Caveat"/>
                  <a:ea typeface="Caveat"/>
                  <a:cs typeface="Caveat"/>
                  <a:sym typeface="Caveat"/>
                </a:rPr>
                <a:t>Explicit function signature</a:t>
              </a:r>
              <a:endParaRPr>
                <a:solidFill>
                  <a:srgbClr val="2167B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 rot="-5400000">
              <a:off x="19219425" y="32766738"/>
              <a:ext cx="240600" cy="25335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2167BA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rot="-5400000">
              <a:off x="22162150" y="32638338"/>
              <a:ext cx="240600" cy="27903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2167BA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3"/>
          <p:cNvSpPr/>
          <p:nvPr/>
        </p:nvSpPr>
        <p:spPr>
          <a:xfrm>
            <a:off x="390493" y="33982681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Implementation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393105" y="16603409"/>
            <a:ext cx="14575800" cy="723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74200" lIns="474200" spcFirstLastPara="1" rIns="474200" wrap="square" tIns="4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Helvetica Neue"/>
                <a:ea typeface="Helvetica Neue"/>
                <a:cs typeface="Helvetica Neue"/>
                <a:sym typeface="Helvetica Neue"/>
              </a:rPr>
              <a:t>Goal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361950" y="17485757"/>
            <a:ext cx="144075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167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for R</a:t>
            </a:r>
            <a:endParaRPr b="1" sz="2800">
              <a:solidFill>
                <a:srgbClr val="2167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and semantics for R types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sweet-spot between precision and ergonomics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167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checking</a:t>
            </a:r>
            <a:endParaRPr b="1" sz="2800">
              <a:solidFill>
                <a:srgbClr val="2167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 type checks - in an 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editor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command line, 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</a:t>
            </a: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code runs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 type checks - for cases that cannot be statically checked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more </a:t>
            </a:r>
            <a:r>
              <a:rPr lang="e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stopifnot(is.character(file) &amp;&amp; length(file) == </a:t>
            </a:r>
            <a:r>
              <a:rPr lang="en" sz="2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inference</a:t>
            </a:r>
            <a:endParaRPr b="1" sz="2800">
              <a:solidFill>
                <a:srgbClr val="1264A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-"/>
            </a:pPr>
            <a:r>
              <a:rPr lang="en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types automatically so user only annotate when needed</a:t>
            </a:r>
            <a:endParaRPr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12896888" y="17675360"/>
            <a:ext cx="204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this</a:t>
            </a: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 work</a:t>
            </a:r>
            <a:endParaRPr sz="3200">
              <a:solidFill>
                <a:schemeClr val="accen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12760138" y="18787173"/>
            <a:ext cx="204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future</a:t>
            </a: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 work</a:t>
            </a:r>
            <a:endParaRPr sz="3200">
              <a:solidFill>
                <a:schemeClr val="accen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2760138" y="20857285"/>
            <a:ext cx="204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future work</a:t>
            </a:r>
            <a:endParaRPr sz="3200">
              <a:solidFill>
                <a:schemeClr val="accen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916500" y="5117763"/>
            <a:ext cx="13339452" cy="532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367700" y="32135213"/>
            <a:ext cx="14575800" cy="1596900"/>
          </a:xfrm>
          <a:prstGeom prst="rect">
            <a:avLst/>
          </a:prstGeom>
          <a:solidFill>
            <a:srgbClr val="2167BA">
              <a:alpha val="75000"/>
            </a:srgbClr>
          </a:solidFill>
          <a:ln cap="flat" cmpd="sng" w="9525">
            <a:solidFill>
              <a:srgbClr val="216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</a:rPr>
              <a:t>Types are sets</a:t>
            </a:r>
            <a:br>
              <a:rPr b="1" lang="en" sz="2700">
                <a:solidFill>
                  <a:schemeClr val="lt1"/>
                </a:solidFill>
              </a:rPr>
            </a:br>
            <a:r>
              <a:rPr lang="en" sz="2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Set-theoretic operations (union, inter, diff):</a:t>
            </a:r>
            <a:r>
              <a:rPr lang="en" sz="2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20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vec \ chr = raw | lgl | int | dbl | clx</a:t>
            </a:r>
            <a:endParaRPr sz="205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Usual set properties (e.g. De Morgan laws): </a:t>
            </a:r>
            <a:r>
              <a:rPr lang="en" sz="2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20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~(t1 | t2) = ~t1 &amp; ~t2</a:t>
            </a:r>
            <a:endParaRPr sz="205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